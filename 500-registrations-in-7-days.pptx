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Inter" panose="020B0604020202020204" charset="0"/>
      <p:regular r:id="rId8"/>
    </p:embeddedFont>
    <p:embeddedFont>
      <p:font typeface="Inter Bold" panose="020B0604020202020204" charset="0"/>
      <p:regular r:id="rId9"/>
    </p:embeddedFont>
    <p:embeddedFont>
      <p:font typeface="Inter SemiBold" panose="020B0604020202020204" charset="0"/>
      <p:regular r:id="rId10"/>
    </p:embeddedFont>
    <p:embeddedFont>
      <p:font typeface="Space Grotesk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38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sprint challenge: 500 engineering student registrations in 7 days on a simulated ₹2,000 budget. Note upfront that all metrics are proposed models within our growth simulation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three-stage path: campus reach, attributed registration, then referral and workshop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₹2,000 simulated budget breakdown. The primary driver is peer-to-peer distribution (₹800 for 220 signups), supported by community seeding and retargeting, netting a simulated 500 total registrations.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4-phase virality mechanism: Invite (peer referral), Compete (inter-college leaderboard), Build (immediate interactive AI playground), and Return (lifecycle retention nudges).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simulation operating model: the Growth Admin console enables real-time budget reallocation, channel pruning, and verification against the 500-registration target before deploying actual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670543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0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GROWTH SIMULATION · 7-DAY SPRINT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22920"/>
            <a:ext cx="6095848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kern="100" spc="-72" dirty="0">
                <a:solidFill>
                  <a:srgbClr val="0F172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500 registrations in 7 days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209602"/>
            <a:ext cx="609584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Your First AI Project in 60 Minutes</a:t>
            </a: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proposed campus growth architecture designed for final-year engineering students across key technical institutes.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533378"/>
            <a:ext cx="6095848" cy="92194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3578" y="3685778"/>
            <a:ext cx="558786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</a:t>
            </a: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500 final-year engineering student registrations target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5" y="4455319"/>
            <a:ext cx="6095848" cy="92194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3578" y="4607719"/>
            <a:ext cx="558786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Budget:</a:t>
            </a: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₹2,000 simulated campaign operating allocation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585" y="5377259"/>
            <a:ext cx="6095848" cy="972741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3578" y="5555059"/>
            <a:ext cx="558786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Status:</a:t>
            </a:r>
            <a:r>
              <a:rPr 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Simulation only — evaluative model, no executed campaign results claimed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017" y="508000"/>
            <a:ext cx="4267093" cy="5842000"/>
          </a:xfrm>
          <a:prstGeom prst="rect">
            <a:avLst/>
          </a:prstGeom>
          <a:solidFill>
            <a:srgbClr val="0F172A"/>
          </a:solidFill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12" y="711200"/>
            <a:ext cx="3860703" cy="5435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946B26-7C4F-9732-B449-A24A765ADA62}"/>
              </a:ext>
            </a:extLst>
          </p:cNvPr>
          <p:cNvSpPr/>
          <p:nvPr/>
        </p:nvSpPr>
        <p:spPr>
          <a:xfrm>
            <a:off x="10826151" y="6350000"/>
            <a:ext cx="1365849" cy="50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0972526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200" kern="100" spc="-48" dirty="0">
                <a:solidFill>
                  <a:srgbClr val="0F172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Make the funnel visible before spending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071860"/>
            <a:ext cx="109725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every acquisition touch into a measurable path from campus reach to registration, referral and workshop intent.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585" y="1816001"/>
            <a:ext cx="3454314" cy="1765102"/>
          </a:xfrm>
          <a:prstGeom prst="roundRect">
            <a:avLst>
              <a:gd name="adj" fmla="val 543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8179" y="2044601"/>
            <a:ext cx="2997125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kern="100" spc="-27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2426791"/>
            <a:ext cx="299712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communities, ambassadors and targeted retargeting.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68691" y="1816001"/>
            <a:ext cx="3454314" cy="1765102"/>
          </a:xfrm>
          <a:prstGeom prst="roundRect">
            <a:avLst>
              <a:gd name="adj" fmla="val 543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97285" y="2044601"/>
            <a:ext cx="2997125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kern="100" spc="-27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Convert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7285" y="2426791"/>
            <a:ext cx="299712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page with source and campaign attribution.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7797" y="1816001"/>
            <a:ext cx="3454314" cy="1765102"/>
          </a:xfrm>
          <a:prstGeom prst="roundRect">
            <a:avLst>
              <a:gd name="adj" fmla="val 543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56391" y="2044601"/>
            <a:ext cx="2997125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kern="100" spc="-27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Compound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56391" y="2426791"/>
            <a:ext cx="299712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 code, leaderboard and student dashboard.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585" y="5212159"/>
            <a:ext cx="10972526" cy="1188641"/>
          </a:xfrm>
          <a:prstGeom prst="roundRect">
            <a:avLst>
              <a:gd name="adj" fmla="val 8077"/>
            </a:avLst>
          </a:prstGeom>
          <a:solidFill>
            <a:srgbClr val="CEFDE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5532834"/>
            <a:ext cx="285743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52516" y="5497909"/>
            <a:ext cx="1000100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Simulation boundary:</a:t>
            </a: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numbers on this slide are Proposed or Simulated Target inputs, not observed performance.</a:t>
            </a:r>
            <a:endParaRPr lang="en-US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6C8BA-D5C4-F64C-D646-6C19D8A7A152}"/>
              </a:ext>
            </a:extLst>
          </p:cNvPr>
          <p:cNvSpPr/>
          <p:nvPr/>
        </p:nvSpPr>
        <p:spPr>
          <a:xfrm>
            <a:off x="10895162" y="6471940"/>
            <a:ext cx="1296838" cy="3860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04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ALLOCATION · ₹2,000 SIMULATED BUDGET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72120"/>
            <a:ext cx="10972526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200" kern="100" spc="-48" dirty="0">
                <a:solidFill>
                  <a:srgbClr val="0F172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Spend ₹2,000 where intent compounds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60241"/>
            <a:ext cx="5841854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25305" y="2044204"/>
            <a:ext cx="4556805" cy="264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₹800 Proposed:</a:t>
            </a: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campus ambassador prompts and peer distribution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₹500 Proposed:</a:t>
            </a: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engineering community and WhatsApp placements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₹400 Proposed:</a:t>
            </a: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retargeting visitors who reached the registration page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₹300 Proposed:</a:t>
            </a: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creative, tracking and contingency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025305" y="4817566"/>
            <a:ext cx="455680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Simulated Target mix:</a:t>
            </a: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220 ambassador, 140 community, 100 referral, 40 retargeting registrations.</a:t>
            </a:r>
            <a:endParaRPr lang="en-US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D387AE-C901-74FE-8818-4EF5EE297A58}"/>
              </a:ext>
            </a:extLst>
          </p:cNvPr>
          <p:cNvSpPr/>
          <p:nvPr/>
        </p:nvSpPr>
        <p:spPr>
          <a:xfrm>
            <a:off x="10826151" y="6350000"/>
            <a:ext cx="1365849" cy="50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04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MECHANISM · RETENTION &amp; VIRALITY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72120"/>
            <a:ext cx="10972526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200" kern="100" spc="-48" dirty="0">
                <a:solidFill>
                  <a:srgbClr val="0F172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Turn one student into a campus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386780"/>
            <a:ext cx="115821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working product makes the growth loop tangible, trackable and easy to simulate.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1873151"/>
            <a:ext cx="2628834" cy="404127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076351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2670671"/>
            <a:ext cx="222244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400" kern="100" spc="-36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Invite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12780" y="3125291"/>
            <a:ext cx="222244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registers and receives a referral link or code.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390815" y="1873151"/>
            <a:ext cx="2628834" cy="404127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010" y="2076351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4010" y="2670671"/>
            <a:ext cx="222244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400" kern="100" spc="-36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Compete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594010" y="3125291"/>
            <a:ext cx="222244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leaderboard makes progress visible by college.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72046" y="1873151"/>
            <a:ext cx="2628834" cy="4041279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241" y="2076351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75241" y="2670671"/>
            <a:ext cx="222244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400" kern="100" spc="-36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Build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375241" y="3125291"/>
            <a:ext cx="2222444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Project Playground gives the 60-minute workshop a concrete payoff.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953276" y="1873151"/>
            <a:ext cx="2628834" cy="40412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471" y="2076351"/>
            <a:ext cx="457189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56471" y="2670671"/>
            <a:ext cx="222244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400" kern="100" spc="-36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Return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9156471" y="3125291"/>
            <a:ext cx="2222444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reminders and the student dashboard pull students back into the journey.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09585" y="6092230"/>
            <a:ext cx="115821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 referral tracking, college performance and campaign attribution at every step.</a:t>
            </a:r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9A632C-18E3-D91F-FC6D-17EDF1DC51C7}"/>
              </a:ext>
            </a:extLst>
          </p:cNvPr>
          <p:cNvSpPr/>
          <p:nvPr/>
        </p:nvSpPr>
        <p:spPr>
          <a:xfrm>
            <a:off x="10826151" y="6350000"/>
            <a:ext cx="1365849" cy="50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kern="100" spc="92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GOVERNANCE · SIMULATION CONTROL SURFACE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687288"/>
            <a:ext cx="10972526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800" kern="100" spc="-42" dirty="0">
                <a:solidFill>
                  <a:srgbClr val="0F172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Judge the plan inside the simulation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203821"/>
            <a:ext cx="11582110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Admin acts as the evaluative console, verifying attribution and capital efficiency before launch.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618754"/>
            <a:ext cx="4978275" cy="410616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3578" y="1821954"/>
            <a:ext cx="472428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kern="100" spc="9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BENCHMARK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3578" y="2077442"/>
            <a:ext cx="4470288" cy="715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50" kern="100" spc="-84" dirty="0">
                <a:solidFill>
                  <a:srgbClr val="CBD5E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500</a:t>
            </a:r>
            <a:endParaRPr lang="en-US" sz="5650" dirty="0"/>
          </a:p>
        </p:txBody>
      </p:sp>
      <p:sp>
        <p:nvSpPr>
          <p:cNvPr id="8" name="Text 6"/>
          <p:cNvSpPr/>
          <p:nvPr/>
        </p:nvSpPr>
        <p:spPr>
          <a:xfrm>
            <a:off x="863578" y="2969518"/>
            <a:ext cx="4470288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Simulated Target</a:t>
            </a: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registrations within a 7-day execution window.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3578" y="3631704"/>
            <a:ext cx="4470189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3578" y="3815259"/>
            <a:ext cx="4470288" cy="637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Decision Rule:</a:t>
            </a: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Reallocate budget within 48 hours to whichever ambassador clusters yield a simulated referral k-factor &gt; 0.25.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2553" y="1618754"/>
            <a:ext cx="5689557" cy="410616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46547" y="1821954"/>
            <a:ext cx="51815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24" dirty="0">
                <a:solidFill>
                  <a:srgbClr val="CBD5E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Operating Telemetry &amp; Controls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6547" y="2140744"/>
          <a:ext cx="5181570" cy="3817226"/>
        </p:xfrm>
        <a:graphic>
          <a:graphicData uri="http://schemas.openxmlformats.org/drawingml/2006/table">
            <a:tbl>
              <a:tblPr/>
              <a:tblGrid>
                <a:gridCol w="1761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9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Readout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Operating Function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4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Attribution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channel mix monitoring to detect CPA divergence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Campus Board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Tracking registrations per college for targeted ambassador payouts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4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Referral Lift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Measuring organic multiplication factor from peer invites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0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Workshop Flow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Monitoring progress from signup to Playground completion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0862" marR="150862" marT="80460" marB="8046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F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32B1D5C6-274E-A704-439D-DB48E59DEA07}"/>
              </a:ext>
            </a:extLst>
          </p:cNvPr>
          <p:cNvSpPr/>
          <p:nvPr/>
        </p:nvSpPr>
        <p:spPr>
          <a:xfrm>
            <a:off x="10826151" y="6350000"/>
            <a:ext cx="1365849" cy="50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547</Words>
  <Application>Microsoft Office PowerPoint</Application>
  <PresentationFormat>Widescreen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Space Grotesk SemiBold</vt:lpstr>
      <vt:lpstr>Inter SemiBold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Vivek Anand</cp:lastModifiedBy>
  <cp:revision>2</cp:revision>
  <dcterms:created xsi:type="dcterms:W3CDTF">2026-10-05T11:59:23Z</dcterms:created>
  <dcterms:modified xsi:type="dcterms:W3CDTF">2026-10-05T12:02:21Z</dcterms:modified>
</cp:coreProperties>
</file>